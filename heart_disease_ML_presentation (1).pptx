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4" d="100"/>
          <a:sy n="94" d="100"/>
        </p:scale>
        <p:origin x="60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A1628"/>
                </a:solidFill>
                <a:latin typeface="Arial"/>
              </a:defRPr>
            </a:pPr>
            <a:r>
              <a:rPr lang="fr-FR" sz="1200" b="0" i="0" u="none" strike="noStrike">
                <a:solidFill>
                  <a:srgbClr val="0A1628"/>
                </a:solidFill>
                <a:latin typeface="Arial"/>
              </a:rPr>
              <a:t>Facteurs de Risque Présents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Patients (%)</c:v>
                </c:pt>
              </c:strCache>
            </c:strRef>
          </c:tx>
          <c:spPr>
            <a:solidFill>
              <a:srgbClr val="0D7377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A1628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Tabac
Actuel</c:v>
                </c:pt>
                <c:pt idx="1">
                  <c:v>Ancien
Tabac</c:v>
                </c:pt>
                <c:pt idx="2">
                  <c:v>Tension
Haute</c:v>
                </c:pt>
                <c:pt idx="3">
                  <c:v>Diabète</c:v>
                </c:pt>
                <c:pt idx="4">
                  <c:v>Obésité</c:v>
                </c:pt>
                <c:pt idx="5">
                  <c:v>Cholestérol
Haut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31</c:v>
                </c:pt>
                <c:pt idx="1">
                  <c:v>28</c:v>
                </c:pt>
                <c:pt idx="2">
                  <c:v>45</c:v>
                </c:pt>
                <c:pt idx="3">
                  <c:v>38</c:v>
                </c:pt>
                <c:pt idx="4">
                  <c:v>29</c:v>
                </c:pt>
                <c:pt idx="5">
                  <c:v>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9DC-4B75-BD5A-8BAE16A6576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fr-F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7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fr-FR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spPr>
            <a:solidFill>
              <a:srgbClr val="1A3A6B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A3A6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B0E6-46C8-8D4B-2B420D823045}"/>
              </c:ext>
            </c:extLst>
          </c:dPt>
          <c:dPt>
            <c:idx val="1"/>
            <c:invertIfNegative val="0"/>
            <c:bubble3D val="0"/>
            <c:spPr>
              <a:solidFill>
                <a:srgbClr val="1A3A6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0E6-46C8-8D4B-2B420D823045}"/>
              </c:ext>
            </c:extLst>
          </c:dPt>
          <c:dPt>
            <c:idx val="2"/>
            <c:invertIfNegative val="0"/>
            <c:bubble3D val="0"/>
            <c:spPr>
              <a:solidFill>
                <a:srgbClr val="1A3A6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0E6-46C8-8D4B-2B420D823045}"/>
              </c:ext>
            </c:extLst>
          </c:dPt>
          <c:dPt>
            <c:idx val="3"/>
            <c:invertIfNegative val="0"/>
            <c:bubble3D val="0"/>
            <c:spPr>
              <a:solidFill>
                <a:srgbClr val="1A3A6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B0E6-46C8-8D4B-2B420D823045}"/>
              </c:ext>
            </c:extLst>
          </c:dPt>
          <c:dPt>
            <c:idx val="4"/>
            <c:invertIfNegative val="0"/>
            <c:bubble3D val="0"/>
            <c:spPr>
              <a:solidFill>
                <a:srgbClr val="1A3A6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B0E6-46C8-8D4B-2B420D823045}"/>
              </c:ext>
            </c:extLst>
          </c:dPt>
          <c:dPt>
            <c:idx val="5"/>
            <c:invertIfNegative val="0"/>
            <c:bubble3D val="0"/>
            <c:spPr>
              <a:solidFill>
                <a:srgbClr val="0D737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B0E6-46C8-8D4B-2B420D823045}"/>
              </c:ext>
            </c:extLst>
          </c:dPt>
          <c:dPt>
            <c:idx val="6"/>
            <c:invertIfNegative val="0"/>
            <c:bubble3D val="0"/>
            <c:spPr>
              <a:solidFill>
                <a:srgbClr val="14A08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B0E6-46C8-8D4B-2B420D823045}"/>
              </c:ext>
            </c:extLst>
          </c:dPt>
          <c:dPt>
            <c:idx val="7"/>
            <c:invertIfNegative val="0"/>
            <c:bubble3D val="0"/>
            <c:spPr>
              <a:solidFill>
                <a:srgbClr val="14A08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B0E6-46C8-8D4B-2B420D823045}"/>
              </c:ext>
            </c:extLst>
          </c:dPt>
          <c:dPt>
            <c:idx val="8"/>
            <c:invertIfNegative val="0"/>
            <c:bubble3D val="0"/>
            <c:spPr>
              <a:solidFill>
                <a:srgbClr val="F5A62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B0E6-46C8-8D4B-2B420D823045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A1A2E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Decision
Tree</c:v>
                </c:pt>
                <c:pt idx="1">
                  <c:v>AdaBoost</c:v>
                </c:pt>
                <c:pt idx="2">
                  <c:v>Gradient
Boosting</c:v>
                </c:pt>
                <c:pt idx="3">
                  <c:v>Random
Forest</c:v>
                </c:pt>
                <c:pt idx="4">
                  <c:v>Extra
Trees</c:v>
                </c:pt>
                <c:pt idx="5">
                  <c:v>SVM</c:v>
                </c:pt>
                <c:pt idx="6">
                  <c:v>KNN</c:v>
                </c:pt>
                <c:pt idx="7">
                  <c:v>GaussianNB</c:v>
                </c:pt>
                <c:pt idx="8">
                  <c:v>Régression
Logistique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99.5</c:v>
                </c:pt>
                <c:pt idx="4">
                  <c:v>96.5</c:v>
                </c:pt>
                <c:pt idx="5">
                  <c:v>94</c:v>
                </c:pt>
                <c:pt idx="6">
                  <c:v>93.5</c:v>
                </c:pt>
                <c:pt idx="7">
                  <c:v>92</c:v>
                </c:pt>
                <c:pt idx="8">
                  <c:v>88.5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B0E6-46C8-8D4B-2B420D82304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fr-F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8"/>
          <c:min val="8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fr-FR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A1628"/>
                </a:solidFill>
                <a:latin typeface="Arial"/>
              </a:defRPr>
            </a:pPr>
            <a:r>
              <a:rPr lang="fr-FR" sz="1200" b="0" i="0" u="none" strike="noStrike">
                <a:solidFill>
                  <a:srgbClr val="0A1628"/>
                </a:solidFill>
                <a:latin typeface="Arial"/>
              </a:rPr>
              <a:t>AUC × 100 par Modèle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AUC</c:v>
                </c:pt>
              </c:strCache>
            </c:strRef>
          </c:tx>
          <c:spPr>
            <a:solidFill>
              <a:srgbClr val="0A162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fr-F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DT</c:v>
                </c:pt>
                <c:pt idx="1">
                  <c:v>AdaBoost</c:v>
                </c:pt>
                <c:pt idx="2">
                  <c:v>GB</c:v>
                </c:pt>
                <c:pt idx="3">
                  <c:v>RF</c:v>
                </c:pt>
                <c:pt idx="4">
                  <c:v>ET</c:v>
                </c:pt>
                <c:pt idx="5">
                  <c:v>GNB</c:v>
                </c:pt>
                <c:pt idx="6">
                  <c:v>KNN</c:v>
                </c:pt>
                <c:pt idx="7">
                  <c:v>SVM</c:v>
                </c:pt>
                <c:pt idx="8">
                  <c:v>LR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99.6</c:v>
                </c:pt>
                <c:pt idx="5">
                  <c:v>98.6</c:v>
                </c:pt>
                <c:pt idx="6">
                  <c:v>98.1</c:v>
                </c:pt>
                <c:pt idx="7">
                  <c:v>99.3</c:v>
                </c:pt>
                <c:pt idx="8">
                  <c:v>95.1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CC5-4262-88D0-F2B2C93A5063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fr-F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5"/>
          <c:min val="9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fr-FR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964379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0" y="-731520"/>
            <a:ext cx="4114800" cy="4114800"/>
          </a:xfrm>
          <a:prstGeom prst="ellipse">
            <a:avLst/>
          </a:prstGeom>
          <a:solidFill>
            <a:srgbClr val="1A3A6B">
              <a:alpha val="40000"/>
            </a:srgbClr>
          </a:solidFill>
          <a:ln w="25400">
            <a:solidFill>
              <a:srgbClr val="0D737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0" y="182880"/>
            <a:ext cx="2560320" cy="2560320"/>
          </a:xfrm>
          <a:prstGeom prst="ellipse">
            <a:avLst/>
          </a:prstGeom>
          <a:solidFill>
            <a:srgbClr val="0D7377">
              <a:alpha val="30000"/>
            </a:srgbClr>
          </a:solidFill>
          <a:ln w="12700">
            <a:solidFill>
              <a:srgbClr val="14A08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22960"/>
            <a:ext cx="5943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4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DES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6400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MALADIES</a:t>
            </a:r>
            <a:endParaRPr lang="en-US" sz="4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CARDIAQUES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457200" y="30632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Machine Learning Complet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3749040"/>
            <a:ext cx="1737360" cy="777240"/>
          </a:xfrm>
          <a:prstGeom prst="rect">
            <a:avLst/>
          </a:prstGeom>
          <a:solidFill>
            <a:srgbClr val="0D7377">
              <a:alpha val="70000"/>
            </a:srgbClr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730752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1 000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57200" y="41148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560320" y="3749040"/>
            <a:ext cx="1737360" cy="777240"/>
          </a:xfrm>
          <a:prstGeom prst="rect">
            <a:avLst/>
          </a:prstGeom>
          <a:solidFill>
            <a:srgbClr val="0D7377">
              <a:alpha val="70000"/>
            </a:srgbClr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0" y="3730752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560320" y="41148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0" y="3749040"/>
            <a:ext cx="1737360" cy="777240"/>
          </a:xfrm>
          <a:prstGeom prst="rect">
            <a:avLst/>
          </a:prstGeom>
          <a:solidFill>
            <a:srgbClr val="0D7377">
              <a:alpha val="70000"/>
            </a:srgbClr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3730752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663440" y="41148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Modèles ML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766560" y="3749040"/>
            <a:ext cx="1737360" cy="777240"/>
          </a:xfrm>
          <a:prstGeom prst="rect">
            <a:avLst/>
          </a:prstGeom>
          <a:solidFill>
            <a:srgbClr val="0D7377">
              <a:alpha val="70000"/>
            </a:srgbClr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66560" y="3730752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766560" y="41148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Précision max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MÉTHODOLOGIQUE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1920240" cy="34747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0584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65760" y="182880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Exploration</a:t>
            </a:r>
            <a:endParaRPr lang="en-US" sz="14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Données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2788920"/>
            <a:ext cx="1920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· 1000 patients</a:t>
            </a:r>
            <a:endParaRPr lang="en-US" sz="10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variables médicales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304288" y="2651760"/>
            <a:ext cx="201168" cy="0"/>
          </a:xfrm>
          <a:prstGeom prst="line">
            <a:avLst/>
          </a:prstGeom>
          <a:noFill/>
          <a:ln w="38100">
            <a:solidFill>
              <a:srgbClr val="F5A62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14600" y="914400"/>
            <a:ext cx="1920240" cy="34747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514600" y="100584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2514600" y="182880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Prétraitement</a:t>
            </a:r>
            <a:endParaRPr lang="en-US" sz="14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Nettoyage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514600" y="2788920"/>
            <a:ext cx="1920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Encodage · Normalisation</a:t>
            </a:r>
            <a:endParaRPr lang="en-US" sz="10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NaN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453128" y="2651760"/>
            <a:ext cx="201168" cy="0"/>
          </a:xfrm>
          <a:prstGeom prst="line">
            <a:avLst/>
          </a:prstGeom>
          <a:noFill/>
          <a:ln w="38100">
            <a:solidFill>
              <a:srgbClr val="F5A62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63440" y="914400"/>
            <a:ext cx="1920240" cy="347472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63440" y="100584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4663440" y="182880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Modélisation</a:t>
            </a:r>
            <a:endParaRPr lang="en-US" sz="14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663440" y="2788920"/>
            <a:ext cx="1920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algorithmes testés</a:t>
            </a:r>
            <a:endParaRPr lang="en-US" sz="10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croisée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601968" y="2651760"/>
            <a:ext cx="201168" cy="0"/>
          </a:xfrm>
          <a:prstGeom prst="line">
            <a:avLst/>
          </a:prstGeom>
          <a:noFill/>
          <a:ln w="38100">
            <a:solidFill>
              <a:srgbClr val="F5A62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12280" y="914400"/>
            <a:ext cx="1920240" cy="3474720"/>
          </a:xfrm>
          <a:prstGeom prst="rect">
            <a:avLst/>
          </a:prstGeom>
          <a:solidFill>
            <a:srgbClr val="14A085"/>
          </a:solidFill>
          <a:ln w="12700">
            <a:solidFill>
              <a:srgbClr val="14A08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812280" y="100584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6812280" y="182880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Optimisation</a:t>
            </a:r>
            <a:endParaRPr lang="en-US" sz="14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Hyperparamètres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812280" y="2788920"/>
            <a:ext cx="1920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</a:t>
            </a:r>
            <a:endParaRPr lang="en-US" sz="10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Meilleurs paramètres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65760" y="461772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Approche rigoureuse pour la prédiction des maladies cardiaques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EXPLORATION DES DONNÉES (EDA)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3840480" cy="1143000"/>
          </a:xfrm>
          <a:prstGeom prst="rect">
            <a:avLst/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73152" cy="11430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601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7377"/>
                </a:solidFill>
              </a:rPr>
              <a:t>♥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969264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Médical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" y="1261872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1 000 patients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variables cliniques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cible : Heart Disease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2240280"/>
            <a:ext cx="3840480" cy="1143000"/>
          </a:xfrm>
          <a:prstGeom prst="rect">
            <a:avLst/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2240280"/>
            <a:ext cx="73152" cy="11430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2860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7377"/>
                </a:solidFill>
              </a:rPr>
              <a:t>⚠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60120" y="2295144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Valeurs Manquantes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" y="2587752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340 valeurs manquantes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la variable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Alcohol Intake (34%)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3566160"/>
            <a:ext cx="3840480" cy="1143000"/>
          </a:xfrm>
          <a:prstGeom prst="rect">
            <a:avLst/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3566160"/>
            <a:ext cx="73152" cy="11430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36118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7377"/>
                </a:solidFill>
              </a:rPr>
              <a:t>⚖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60120" y="3621024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60120" y="3913632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par genre,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âge, facteurs de risque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corrélations</a:t>
            </a:r>
            <a:endParaRPr lang="en-US" sz="1000" dirty="0"/>
          </a:p>
        </p:txBody>
      </p:sp>
      <p:graphicFrame>
        <p:nvGraphicFramePr>
          <p:cNvPr id="19" name="Chart 0"/>
          <p:cNvGraphicFramePr/>
          <p:nvPr/>
        </p:nvGraphicFramePr>
        <p:xfrm>
          <a:off x="4572000" y="822960"/>
          <a:ext cx="429768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PRÉTRAITEMENT DES DONNÉES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8229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Encodage des Variables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234440"/>
          <a:ext cx="4114800" cy="2084832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Encodage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Gender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Male=1, Female=0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Smoking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Never=0, Former=1, Current=2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Alcohol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NaN=0, Moderate=1, Heavy=2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Chest Pain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Typique=0 … Asymp=3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Variables binaires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Yes=1, No=0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754880" y="8229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Étapes de Transformation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754880" y="1307592"/>
            <a:ext cx="347472" cy="347472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754880" y="129844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212080" y="13258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Renommage standardisé des colonnes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754880" y="1892808"/>
            <a:ext cx="347472" cy="347472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54880" y="188366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212080" y="1911096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Encodage des variables catégorielles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754880" y="2478024"/>
            <a:ext cx="347472" cy="347472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754880" y="24688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212080" y="249631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valeurs manquantes (NaN → 0)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754880" y="3014080"/>
            <a:ext cx="347472" cy="347472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754880" y="300493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212080" y="303236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&amp; analyse des outliers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754880" y="3569800"/>
            <a:ext cx="347472" cy="347472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754880" y="356065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212080" y="358808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Normalisation MinMax &amp; StandardScaler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754880" y="4046864"/>
            <a:ext cx="347472" cy="347472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754880" y="403772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5212080" y="406515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Sauvegarde du dataset traité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274320" y="4434840"/>
            <a:ext cx="8595360" cy="502920"/>
          </a:xfrm>
          <a:prstGeom prst="rect">
            <a:avLst/>
          </a:prstGeom>
          <a:solidFill>
            <a:srgbClr val="0D7377">
              <a:alpha val="85000"/>
            </a:srgbClr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274320" y="443484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: heart_disease_dataset1.csv — Dataset propre et prêt pour la modélisation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COMPARAISON DES 9 MODÈLES ML — ACCURACY</a:t>
            </a:r>
            <a:endParaRPr lang="en-US" sz="2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777240"/>
          <a:ext cx="859536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PERFORMANCES MULTICRITÈRES — AUC &amp; MÉTRIQUES</a:t>
            </a:r>
            <a:endParaRPr lang="en-US" sz="2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822960"/>
          <a:ext cx="530352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5852160" y="8229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Modèles Parfaits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852160" y="118872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· AdaBoost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852160" y="1828800"/>
            <a:ext cx="3017520" cy="448056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989320" y="1828800"/>
            <a:ext cx="201168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772400" y="1828800"/>
            <a:ext cx="96012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852160" y="2359152"/>
            <a:ext cx="3017520" cy="448056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989320" y="2359152"/>
            <a:ext cx="201168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772400" y="2359152"/>
            <a:ext cx="96012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852160" y="2889504"/>
            <a:ext cx="3017520" cy="448056"/>
          </a:xfrm>
          <a:prstGeom prst="rect">
            <a:avLst/>
          </a:prstGeom>
          <a:solidFill>
            <a:srgbClr val="14A085"/>
          </a:solidFill>
          <a:ln w="12700">
            <a:solidFill>
              <a:srgbClr val="14A08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5989320" y="2889504"/>
            <a:ext cx="201168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772400" y="2889504"/>
            <a:ext cx="96012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5852160" y="3419856"/>
            <a:ext cx="3017520" cy="44805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5989320" y="3419856"/>
            <a:ext cx="201168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7772400" y="3419856"/>
            <a:ext cx="96012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5852160" y="3950208"/>
            <a:ext cx="3017520" cy="44805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5989320" y="3950208"/>
            <a:ext cx="201168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7772400" y="3950208"/>
            <a:ext cx="96012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OPTIMISATION DES HYPERPARAMÈTRES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Meilleurs Paramètres par Modèle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188720"/>
          <a:ext cx="5486400" cy="3374136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Modèle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Paramètres Optimaux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k=15, weights='distance'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Régression Logistique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C=4.28, solver='liblinear'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n_estimators=510, max_depth=5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kernel='poly', C=100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max_depth=5, min_samples_split=18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AdaBoost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n_estimators=50, lr=0.1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 Boosting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n_estimators=50, lr=0.01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ExtraTrees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n_estimators=700, max_depth=80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035040" y="7772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Méthodes Utilisées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035040" y="1188720"/>
            <a:ext cx="2834640" cy="1051560"/>
          </a:xfrm>
          <a:prstGeom prst="rect">
            <a:avLst/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5"/>
          <p:cNvSpPr/>
          <p:nvPr/>
        </p:nvSpPr>
        <p:spPr>
          <a:xfrm>
            <a:off x="6035040" y="1188720"/>
            <a:ext cx="64008" cy="1051560"/>
          </a:xfrm>
          <a:prstGeom prst="rect">
            <a:avLst/>
          </a:prstGeom>
          <a:solidFill>
            <a:srgbClr val="14A085"/>
          </a:solidFill>
          <a:ln w="12700">
            <a:solidFill>
              <a:srgbClr val="14A08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172200" y="12801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⚙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675120" y="12801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675120" y="1572768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exhaustive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grille de paramètres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035040" y="2377440"/>
            <a:ext cx="2834640" cy="1051560"/>
          </a:xfrm>
          <a:prstGeom prst="rect">
            <a:avLst/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035040" y="2377440"/>
            <a:ext cx="64008" cy="1051560"/>
          </a:xfrm>
          <a:prstGeom prst="rect">
            <a:avLst/>
          </a:prstGeom>
          <a:solidFill>
            <a:srgbClr val="14A085"/>
          </a:solidFill>
          <a:ln w="12700">
            <a:solidFill>
              <a:srgbClr val="14A08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172200" y="24688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🎲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6675120" y="24688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RandomizedSearchCV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675120" y="2761488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aléatoire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espaces larges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6035040" y="3566160"/>
            <a:ext cx="2834640" cy="1051560"/>
          </a:xfrm>
          <a:prstGeom prst="rect">
            <a:avLst/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035040" y="3566160"/>
            <a:ext cx="64008" cy="1051560"/>
          </a:xfrm>
          <a:prstGeom prst="rect">
            <a:avLst/>
          </a:prstGeom>
          <a:solidFill>
            <a:srgbClr val="14A085"/>
          </a:solidFill>
          <a:ln w="12700">
            <a:solidFill>
              <a:srgbClr val="14A08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172200" y="36576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✓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6675120" y="36576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Cross-Validation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675120" y="3950208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croisée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5-folds stratifiée</a:t>
            </a:r>
            <a:endParaRPr lang="en-US" sz="9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3200400"/>
            <a:ext cx="4572000" cy="4572000"/>
          </a:xfrm>
          <a:prstGeom prst="ellipse">
            <a:avLst/>
          </a:prstGeom>
          <a:solidFill>
            <a:srgbClr val="1A3A6B">
              <a:alpha val="40000"/>
            </a:srgbClr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0D7377">
              <a:alpha val="30000"/>
            </a:srgbClr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PERSPECTIVES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1828800" cy="1280160"/>
          </a:xfrm>
          <a:prstGeom prst="rect">
            <a:avLst/>
          </a:prstGeom>
          <a:solidFill>
            <a:srgbClr val="1A3A6B">
              <a:alpha val="70000"/>
            </a:srgbClr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68680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3/9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65760" y="15087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Modèles à</a:t>
            </a:r>
            <a:endParaRPr lang="en-US" sz="10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Accuracy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68880" y="822960"/>
            <a:ext cx="1828800" cy="1280160"/>
          </a:xfrm>
          <a:prstGeom prst="rect">
            <a:avLst/>
          </a:prstGeom>
          <a:solidFill>
            <a:srgbClr val="1A3A6B">
              <a:alpha val="70000"/>
            </a:srgbClr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68880" y="868680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468880" y="15087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parfait</a:t>
            </a:r>
            <a:endParaRPr lang="en-US" sz="10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 modèles)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0" y="822960"/>
            <a:ext cx="1828800" cy="1280160"/>
          </a:xfrm>
          <a:prstGeom prst="rect">
            <a:avLst/>
          </a:prstGeom>
          <a:solidFill>
            <a:srgbClr val="1A3A6B">
              <a:alpha val="70000"/>
            </a:srgbClr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868680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96.5%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572000" y="15087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ExtraTrees</a:t>
            </a:r>
            <a:endParaRPr lang="en-US" sz="10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(meilleur après top-3)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675120" y="822960"/>
            <a:ext cx="1828800" cy="1280160"/>
          </a:xfrm>
          <a:prstGeom prst="rect">
            <a:avLst/>
          </a:prstGeom>
          <a:solidFill>
            <a:srgbClr val="1A3A6B">
              <a:alpha val="70000"/>
            </a:srgbClr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0" y="868680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675120" y="15087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Graphiques</a:t>
            </a:r>
            <a:endParaRPr lang="en-US" sz="10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générés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23317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Compétences Validées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2423160"/>
            <a:ext cx="39319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Pipeline ML complet et professionnel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Prévention du data leakage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Évaluation multicritères (Acc, Prec, Rec, F1, AUC)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Optimisation hyperparamètres (9 modèles)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Interprétation médicale des résultats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54880" y="23317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Prochaines Étapes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754880" y="274320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Deep Learning &amp; réseaux de neurones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54880" y="3145536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Feature Engineering médical avancé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54880" y="354787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Stacking des meilleurs modèles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54880" y="395020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API REST pour intégration hospitalière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54880" y="4352544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Dashboard de visualisation interactive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Prédiction des maladies cardiaques avec Machine Learning — Pipeline complet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434</Words>
  <Application>Microsoft Office PowerPoint</Application>
  <PresentationFormat>On-screen Show (16:9)</PresentationFormat>
  <Paragraphs>162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Diagnostic des Maladies Cardiaques - Pipeline ML</dc:title>
  <dc:subject>PptxGenJS Presentation</dc:subject>
  <dc:creator>PptxGenJS</dc:creator>
  <cp:lastModifiedBy>Mohamed Hamed IBN HADJ MOHAMED</cp:lastModifiedBy>
  <cp:revision>2</cp:revision>
  <dcterms:created xsi:type="dcterms:W3CDTF">2026-04-15T08:18:52Z</dcterms:created>
  <dcterms:modified xsi:type="dcterms:W3CDTF">2026-04-15T08:37:53Z</dcterms:modified>
</cp:coreProperties>
</file>