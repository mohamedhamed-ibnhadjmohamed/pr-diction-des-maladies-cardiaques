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A1628"/>
                </a:solidFill>
                <a:latin typeface="Arial"/>
              </a:rPr>
              <a:t>Facteurs de Risque Présents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Tabac
Actuel</c:v>
                </c:pt>
                <c:pt idx="1">
                  <c:v>Ancien
Tabac</c:v>
                </c:pt>
                <c:pt idx="2">
                  <c:v>Tension
Haute</c:v>
                </c:pt>
                <c:pt idx="3">
                  <c:v>Diabète</c:v>
                </c:pt>
                <c:pt idx="4">
                  <c:v>Obésité</c:v>
                </c:pt>
                <c:pt idx="5">
                  <c:v>Cholestérol
Haut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28</c:v>
                </c:pt>
                <c:pt idx="2">
                  <c:v>45</c:v>
                </c:pt>
                <c:pt idx="3">
                  <c:v>38</c:v>
                </c:pt>
                <c:pt idx="4">
                  <c:v>29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F8-433E-9B89-EB7E945321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00-4D88-BB5D-C9A14E990DF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800-4D88-BB5D-C9A14E990DF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800-4D88-BB5D-C9A14E990DF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800-4D88-BB5D-C9A14E990DF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800-4D88-BB5D-C9A14E990DF5}"/>
              </c:ext>
            </c:extLst>
          </c:dPt>
          <c:dPt>
            <c:idx val="5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800-4D88-BB5D-C9A14E990DF5}"/>
              </c:ext>
            </c:extLst>
          </c:dPt>
          <c:dPt>
            <c:idx val="6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800-4D88-BB5D-C9A14E990DF5}"/>
              </c:ext>
            </c:extLst>
          </c:dPt>
          <c:dPt>
            <c:idx val="7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800-4D88-BB5D-C9A14E990DF5}"/>
              </c:ext>
            </c:extLst>
          </c:dPt>
          <c:dPt>
            <c:idx val="8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800-4D88-BB5D-C9A14E990D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
Forest</c:v>
                </c:pt>
                <c:pt idx="1">
                  <c:v>Decision
Tree</c:v>
                </c:pt>
                <c:pt idx="2">
                  <c:v>AdaBoost</c:v>
                </c:pt>
                <c:pt idx="3">
                  <c:v>Gradient
Boosting</c:v>
                </c:pt>
                <c:pt idx="4">
                  <c:v>Extra
Trees</c:v>
                </c:pt>
                <c:pt idx="5">
                  <c:v>SVM</c:v>
                </c:pt>
                <c:pt idx="6">
                  <c:v>KNN</c:v>
                </c:pt>
                <c:pt idx="7">
                  <c:v>GaussianNB</c:v>
                </c:pt>
                <c:pt idx="8">
                  <c:v>Régression
Logistique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96</c:v>
                </c:pt>
                <c:pt idx="6">
                  <c:v>91.5</c:v>
                </c:pt>
                <c:pt idx="7">
                  <c:v>91.5</c:v>
                </c:pt>
                <c:pt idx="8">
                  <c:v>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800-4D88-BB5D-C9A14E990D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8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A1628"/>
                </a:solidFill>
                <a:latin typeface="Arial"/>
              </a:rPr>
              <a:t>AUC × 100 par Modèle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RF</c:v>
                </c:pt>
                <c:pt idx="1">
                  <c:v>DT</c:v>
                </c:pt>
                <c:pt idx="2">
                  <c:v>AdaBoost</c:v>
                </c:pt>
                <c:pt idx="3">
                  <c:v>GB</c:v>
                </c:pt>
                <c:pt idx="4">
                  <c:v>ET</c:v>
                </c:pt>
                <c:pt idx="5">
                  <c:v>SVM</c:v>
                </c:pt>
                <c:pt idx="6">
                  <c:v>GNB</c:v>
                </c:pt>
                <c:pt idx="7">
                  <c:v>KNN</c:v>
                </c:pt>
                <c:pt idx="8">
                  <c:v>LR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99.4</c:v>
                </c:pt>
                <c:pt idx="6">
                  <c:v>98.3</c:v>
                </c:pt>
                <c:pt idx="7">
                  <c:v>97.8</c:v>
                </c:pt>
                <c:pt idx="8">
                  <c:v>94.8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0-4370-A346-CF3AAFBE184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9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16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"/>
            <a:ext cx="2560320" cy="256032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CARDIAQUES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Machine Learning Complet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max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MÉTHODOLOGIQUE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1000 patients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variables médicales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14400"/>
            <a:ext cx="1920240" cy="3474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Nettoyage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· Normalisation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1440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algorithmes testés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0196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14400"/>
            <a:ext cx="1920240" cy="34747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paramètres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rigoureuse pour la prédiction des maladies cardiaques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 (EDA)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Médical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patients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variables cliniques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Heart Disease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8775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valeurs manquantes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variable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Intake (34%)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210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136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genre,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âge, facteurs de risque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corrélations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0" y="822960"/>
          <a:ext cx="4297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Variables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20848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Male=1, Female=0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Never=0, Former=1, Current=2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NaN=0, Moderate=1, Heavy=2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Typique=0 … Asymp=3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binaires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Yes=1, No=0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Transformation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307592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Renommage standardisé des colonnes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92808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883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1911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variables catégorielles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478024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valeurs manquantes (NaN → 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063240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1208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&amp; analyse des outliers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64845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12080" y="3666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MinMax &amp; StandardScaler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416484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415570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0" y="416484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dataset traité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581144"/>
            <a:ext cx="8595360" cy="356616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4915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heart_disease_dataset1.csv — Dataset propre et prêt pour la modélisation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9 MODÈLES ML — ACCURACY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MULTICRITÈRES — AUC &amp; MÉTRIQUES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Modèles Parfaits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188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Decision Tree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· Gradient Boosting · ExtraTrees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828800"/>
            <a:ext cx="3017520" cy="4480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828800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2359152"/>
            <a:ext cx="3017520" cy="448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359152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359152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52160" y="2889504"/>
            <a:ext cx="3017520" cy="44805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889504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2889504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52160" y="3419856"/>
            <a:ext cx="3017520" cy="4480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89320" y="3419856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3419856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52160" y="3950208"/>
            <a:ext cx="3017520" cy="4480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89320" y="3950208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0" y="3950208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HYPERPARAMÈTRES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Paramètres par Modèle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486400" cy="33741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 Optimaux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k=15, weights='distance'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C=4.28, solver='liblinear'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n_estimators=510, max_depth=5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kernel='poly', C=100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max_depth=5, min_samples_split=18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n_estimators=50, lr=0.1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n_estimators=50, lr=0.01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ExtraTrees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n_estimators=700, max_depth=80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Utilisées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18872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6035040" y="118872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1280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15727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exhaustive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grille de paramètres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7744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7744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751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27614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aléatoire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espaces larges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56616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56616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39502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5-folds stratifiée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à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parfait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modèles)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(kernel poly)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Validées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ML complet et professionnel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Prévention du data leakage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Évaluation multicritères (Acc, Prec, Rec, F1, AUC)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Optimisation hyperparamètres (9 modèles)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Interprétation médicale des résultats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Learning &amp; réseaux de neurones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45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Feature Engineering médical avancé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Stacking des meilleurs modèles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9502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REST pour intégration hospitalière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de visualisation interactive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maladies cardiaques avec Machine Learning — Pipeline complet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438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des Maladies Cardiaques - Pipeline ML</dc:title>
  <dc:subject>PptxGenJS Presentation</dc:subject>
  <dc:creator>PptxGenJS</dc:creator>
  <cp:lastModifiedBy>Mohamed Hamed IBN HADJ MOHAMED</cp:lastModifiedBy>
  <cp:revision>2</cp:revision>
  <dcterms:created xsi:type="dcterms:W3CDTF">2026-04-12T13:35:50Z</dcterms:created>
  <dcterms:modified xsi:type="dcterms:W3CDTF">2026-04-12T19:48:05Z</dcterms:modified>
</cp:coreProperties>
</file>